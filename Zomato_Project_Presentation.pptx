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51960" cy="118872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4251960" cy="118872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79" y="0"/>
            <a:ext cx="4251960" cy="118872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ZOMATO RESTAURANT</a:t>
            </a:r>
            <a:br/>
            <a:r>
              <a:t>RATING &amp; CUISINE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DCEBF0"/>
                </a:solidFill>
              </a:defRPr>
            </a:pPr>
            <a:r>
              <a:t>Mini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794760"/>
            <a:ext cx="82296" cy="123444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959352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06824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CAEA3"/>
                </a:solidFill>
              </a:defRPr>
            </a:pPr>
            <a:r>
              <a:t>2,999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64608"/>
            <a:ext cx="27889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restaurant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79476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3794760"/>
            <a:ext cx="82296" cy="123444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3959352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306824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6C85F"/>
                </a:solidFill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864608"/>
            <a:ext cx="27889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questions answered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79476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3794760"/>
            <a:ext cx="82296" cy="1234440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3959352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FINAL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306824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0639B"/>
                </a:solidFill>
              </a:defRPr>
            </a:pPr>
            <a: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864608"/>
            <a:ext cx="27889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charts + slicers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1. 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</a:defRPr>
            </a:pPr>
            <a:r>
              <a:t>What I did in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Analyzed restaurant ratings, cuisines, cities, costs and price ranges.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Cleaned the dataset using Power Query.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Created PivotTables to answer 8 analysis questions.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Created PivotCharts for visual analysis.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Built one interactive Excel dashboard using slicers.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2. Dataset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</a:defRPr>
            </a:pPr>
            <a:r>
              <a:t>Technology and fields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82296" cy="123444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46504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CAEA3"/>
                </a:solidFill>
              </a:defRPr>
            </a:pPr>
            <a:r>
              <a:t>2,999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21031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restaurant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23444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234440"/>
            <a:ext cx="82296" cy="1234440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3990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746504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0639B"/>
                </a:solidFill>
              </a:defRPr>
            </a:pPr>
            <a: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04288"/>
            <a:ext cx="21031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data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23444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234440"/>
            <a:ext cx="82296" cy="123444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3990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MAIN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46504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6C85F"/>
                </a:solidFill>
              </a:defRPr>
            </a:pPr>
            <a:r>
              <a:t>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04288"/>
            <a:ext cx="21031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analysis and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23444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15400" y="1234440"/>
            <a:ext cx="82296" cy="123444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13990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CLEANING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746504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C44E52"/>
                </a:solidFill>
              </a:defRPr>
            </a:pPr>
            <a:r>
              <a:t>Power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304288"/>
            <a:ext cx="21031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data preparation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88036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Restaurant_ID, Restaurant_Name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City, Locality, Latitude, Longitude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Cuisines, Average_Cost_For_Two, Price_Range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Rating, rating_category, Votes, Delivery_Status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3. Data Cleaning with Power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</a:defRPr>
            </a:pPr>
            <a:r>
              <a:t>Steps followed before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33756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371600"/>
            <a:ext cx="502920" cy="502920"/>
          </a:xfrm>
          <a:prstGeom prst="ellipse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7160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32D37"/>
                </a:solidFill>
              </a:defRPr>
            </a:pPr>
            <a: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64792"/>
            <a:ext cx="2423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973"/>
                </a:solidFill>
              </a:defRPr>
            </a:pPr>
            <a:r>
              <a:t>Imported the raw Excel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34440"/>
            <a:ext cx="333756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3CA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17720" y="1371600"/>
            <a:ext cx="502920" cy="502920"/>
          </a:xfrm>
          <a:prstGeom prst="ellipse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37160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32D37"/>
                </a:solidFill>
              </a:defRPr>
            </a:pPr>
            <a: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764792"/>
            <a:ext cx="2423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973"/>
                </a:solidFill>
              </a:defRPr>
            </a:pPr>
            <a:r>
              <a:t>Checked columns, blanks and data types.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333756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F6C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0" y="1371600"/>
            <a:ext cx="502920" cy="502920"/>
          </a:xfrm>
          <a:prstGeom prst="ellipse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37160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32D37"/>
                </a:solidFill>
              </a:defRPr>
            </a:pPr>
            <a:r>
              <a:t>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764792"/>
            <a:ext cx="2423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973"/>
                </a:solidFill>
              </a:defRPr>
            </a:pPr>
            <a:r>
              <a:t>Removed or handled unwanted/inconsistent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74720"/>
            <a:ext cx="333756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118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32D37"/>
                </a:solidFill>
              </a:defRPr>
            </a:pPr>
            <a:r>
              <a:t>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05072"/>
            <a:ext cx="2423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973"/>
                </a:solidFill>
              </a:defRPr>
            </a:pPr>
            <a:r>
              <a:t>Set numeric fields to correct data types.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474720"/>
            <a:ext cx="333756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17720" y="3611880"/>
            <a:ext cx="502920" cy="502920"/>
          </a:xfrm>
          <a:prstGeom prst="ellipse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6118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32D37"/>
                </a:solidFill>
              </a:defRPr>
            </a:pPr>
            <a:r>
              <a:t>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005072"/>
            <a:ext cx="2423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973"/>
                </a:solidFill>
              </a:defRPr>
            </a:pPr>
            <a:r>
              <a:t>Created Cuisine_Analysis by splitting cuisines into rows.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474720"/>
            <a:ext cx="333756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3CA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12480" y="3611880"/>
            <a:ext cx="502920" cy="502920"/>
          </a:xfrm>
          <a:prstGeom prst="ellipse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6118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32D37"/>
                </a:solidFill>
              </a:defRPr>
            </a:pPr>
            <a:r>
              <a:t>Load 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005072"/>
            <a:ext cx="2423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973"/>
                </a:solidFill>
              </a:defRPr>
            </a:pPr>
            <a:r>
              <a:t>Loaded cleaned data into Excel.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4. Analysis Questions 1–4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</a:defRPr>
            </a:pPr>
            <a:r>
              <a:t>PivotTable calculations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05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82296" cy="868680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307592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2D37"/>
                </a:solidFill>
              </a:defRPr>
            </a:pPr>
            <a:r>
              <a:t>How many restaurants?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30759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973"/>
                </a:solidFill>
              </a:defRPr>
            </a:pPr>
            <a:r>
              <a:t>Count of Restaurant_ID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13075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0639B"/>
                </a:solidFill>
              </a:defRPr>
            </a:pPr>
            <a:r>
              <a:t>2,999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77440"/>
            <a:ext cx="1005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377440"/>
            <a:ext cx="82296" cy="86868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4203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450592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2D37"/>
                </a:solidFill>
              </a:defRPr>
            </a:pPr>
            <a:r>
              <a:t>What is the average rating?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45059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973"/>
                </a:solidFill>
              </a:defRPr>
            </a:pPr>
            <a:r>
              <a:t>Average of 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4505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CAEA3"/>
                </a:solidFill>
              </a:defRPr>
            </a:pPr>
            <a:r>
              <a:t>2.73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0440"/>
            <a:ext cx="1005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520440"/>
            <a:ext cx="82296" cy="86868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8503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593592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2D37"/>
                </a:solidFill>
              </a:defRPr>
            </a:pPr>
            <a:r>
              <a:t>Top 10 cuisines?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59359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973"/>
                </a:solidFill>
              </a:defRPr>
            </a:pPr>
            <a:r>
              <a:t>Count by Cuisine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5935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6C85F"/>
                </a:solidFill>
              </a:defRPr>
            </a:pPr>
            <a:r>
              <a:t>Top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63440"/>
            <a:ext cx="1005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663440"/>
            <a:ext cx="82296" cy="86868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828031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Q4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736592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2D37"/>
                </a:solidFill>
              </a:defRPr>
            </a:pPr>
            <a:r>
              <a:t>Highest rated cuisines?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473659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973"/>
                </a:solidFill>
              </a:defRPr>
            </a:pPr>
            <a:r>
              <a:t>Average Rating by Cuisine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73659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C44E52"/>
                </a:solidFill>
              </a:defRPr>
            </a:pPr>
            <a:r>
              <a:t>Top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5. Analysis Questions 5–8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</a:defRPr>
            </a:pPr>
            <a:r>
              <a:t>PivotTable calculations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05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82296" cy="868680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Q5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30759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32D37"/>
                </a:solidFill>
              </a:defRPr>
            </a:pPr>
            <a:r>
              <a:t>Which cities have the most restaurants?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30759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F6973"/>
                </a:solidFill>
              </a:defRPr>
            </a:pPr>
            <a:r>
              <a:t>Count by 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77440"/>
            <a:ext cx="1005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377440"/>
            <a:ext cx="82296" cy="86868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54203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Q6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45059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32D37"/>
                </a:solidFill>
              </a:defRPr>
            </a:pPr>
            <a:r>
              <a:t>How are restaurants distributed by rating category?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5059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F6973"/>
                </a:solidFill>
              </a:defRPr>
            </a:pPr>
            <a:r>
              <a:t>Count by rating_category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0440"/>
            <a:ext cx="1005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520440"/>
            <a:ext cx="82296" cy="86868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68503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Q7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59359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32D37"/>
                </a:solidFill>
              </a:defRPr>
            </a:pPr>
            <a:r>
              <a:t>What is the average cost for two?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9359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F6973"/>
                </a:solidFill>
              </a:defRPr>
            </a:pPr>
            <a:r>
              <a:t>Average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593592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6C85F"/>
                </a:solidFill>
              </a:defRPr>
            </a:pPr>
            <a:r>
              <a:t>₹461.17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1005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663440"/>
            <a:ext cx="82296" cy="86868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828031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Q8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73659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32D37"/>
                </a:solidFill>
              </a:defRPr>
            </a:pPr>
            <a:r>
              <a:t>Which price range has the most restaurants?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73659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5F6973"/>
                </a:solidFill>
              </a:defRPr>
            </a:pPr>
            <a:r>
              <a:t>Count by Price_Range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736592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C44E52"/>
                </a:solidFill>
              </a:defRPr>
            </a:pPr>
            <a:r>
              <a:t>Range 1 = 1,481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6. Top 10 Cuisine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</a:defRPr>
            </a:pPr>
            <a:r>
              <a:t>Restaurant-cuisine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F6973"/>
                </a:solidFill>
              </a:defRPr>
            </a:pPr>
            <a:r>
              <a:t>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430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</a:defRPr>
            </a:pPr>
            <a:r>
              <a:t>CUISINE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14300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F6973"/>
                </a:solidFill>
              </a:defRPr>
            </a:pPr>
            <a:r>
              <a:t>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955279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3619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7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</a:defRPr>
            </a:pPr>
            <a:r>
              <a:t>North Indian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53619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CAEA3"/>
                </a:solidFill>
              </a:defRPr>
            </a:pPr>
            <a:r>
              <a:t>1,064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7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659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</a:defRPr>
            </a:pPr>
            <a:r>
              <a:t>Fast Food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9659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CAEA3"/>
                </a:solidFill>
              </a:defRPr>
            </a:pPr>
            <a:r>
              <a:t>751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368296"/>
            <a:ext cx="7955279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3957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7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39572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</a:defRPr>
            </a:pPr>
            <a:r>
              <a:t>Chinese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39572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CAEA3"/>
                </a:solidFill>
              </a:defRPr>
            </a:pPr>
            <a:r>
              <a:t>509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2549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7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825496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</a:defRPr>
            </a:pPr>
            <a:r>
              <a:t>Beverages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82549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CAEA3"/>
                </a:solidFill>
              </a:defRPr>
            </a:pPr>
            <a:r>
              <a:t>316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227832"/>
            <a:ext cx="7955279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255263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7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255263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</a:defRPr>
            </a:pPr>
            <a:r>
              <a:t>Desserts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255263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CAEA3"/>
                </a:solidFill>
              </a:defRPr>
            </a:pPr>
            <a:r>
              <a:t>296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685031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7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685031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</a:defRPr>
            </a:pPr>
            <a:r>
              <a:t>Street Food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685031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CAEA3"/>
                </a:solidFill>
              </a:defRPr>
            </a:pPr>
            <a:r>
              <a:t>292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087368"/>
            <a:ext cx="7955279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114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7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11480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</a:defRPr>
            </a:pPr>
            <a:r>
              <a:t>South Indian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1148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CAEA3"/>
                </a:solidFill>
              </a:defRPr>
            </a:pPr>
            <a:r>
              <a:t>283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54456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7"/>
                </a:solidFill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54456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</a:defRPr>
            </a:pPr>
            <a:r>
              <a:t>Bakery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5445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CAEA3"/>
                </a:solidFill>
              </a:defRPr>
            </a:pPr>
            <a:r>
              <a:t>255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946903"/>
            <a:ext cx="7955279" cy="4114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97433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7"/>
                </a:solidFill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974336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</a:defRPr>
            </a:pPr>
            <a:r>
              <a:t>Mithai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97433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CAEA3"/>
                </a:solidFill>
              </a:defRPr>
            </a:pPr>
            <a:r>
              <a:t>248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404103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2D37"/>
                </a:solidFill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404103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D37"/>
                </a:solidFill>
              </a:defRPr>
            </a:pPr>
            <a:r>
              <a:t>Continental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5404103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CAEA3"/>
                </a:solidFill>
              </a:defRPr>
            </a:pPr>
            <a:r>
              <a:t>216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15400" y="14173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15400" y="1417320"/>
            <a:ext cx="82296" cy="141732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0" y="15819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KEY RESULT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1929384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CAEA3"/>
                </a:solidFill>
              </a:defRPr>
            </a:pPr>
            <a:r>
              <a:t>North Indian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2487168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1,064 cuisine records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3246120"/>
            <a:ext cx="2423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973"/>
                </a:solidFill>
              </a:defRPr>
            </a:pPr>
            <a:r>
              <a:t>Note: Cuisine_Analysis has one row per cuisine occurrence, so one restaurant can appear under more than one cuisine.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7. Charts Created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</a:defRPr>
            </a:pPr>
            <a:r>
              <a:t>How the PivotTables became visuals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82296" cy="109728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39903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TOP 10 CUISINES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46504"/>
            <a:ext cx="47091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CAEA3"/>
                </a:solidFill>
              </a:defRPr>
            </a:pPr>
            <a:r>
              <a:t>Bar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3444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234440"/>
            <a:ext cx="82296" cy="109728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39903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HIGHEST RATED CUISINES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46504"/>
            <a:ext cx="47091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6C85F"/>
                </a:solidFill>
              </a:defRPr>
            </a:pPr>
            <a:r>
              <a:t>Bar Chart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517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651760"/>
            <a:ext cx="82296" cy="1097280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81635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RESTAURANTS BY 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63824"/>
            <a:ext cx="47091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0639B"/>
                </a:solidFill>
              </a:defRPr>
            </a:pPr>
            <a:r>
              <a:t>Bar Chart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6517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651760"/>
            <a:ext cx="82296" cy="109728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81635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RATING CATEGORY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63824"/>
            <a:ext cx="47091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C44E52"/>
                </a:solidFill>
              </a:defRPr>
            </a:pPr>
            <a:r>
              <a:t>Column Chart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069080"/>
            <a:ext cx="82296" cy="109728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23367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PRICE RANGE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81144"/>
            <a:ext cx="47091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CAEA3"/>
                </a:solidFill>
              </a:defRPr>
            </a:pPr>
            <a:r>
              <a:t>Column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8. 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</a:defRPr>
            </a:pPr>
            <a:r>
              <a:t>Final Excel dashboard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82296" cy="123444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075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KPI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55064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CAEA3"/>
                </a:solidFill>
              </a:defRPr>
            </a:pPr>
            <a:r>
              <a:t>2,999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30175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Total Restaurants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4300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43000"/>
            <a:ext cx="82296" cy="123444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3075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KPI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655064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6C85F"/>
                </a:solidFill>
              </a:defRPr>
            </a:pPr>
            <a:r>
              <a:t>2.73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12848"/>
            <a:ext cx="30175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Average 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82296" cy="1234440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3075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KPI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55064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0639B"/>
                </a:solidFill>
              </a:defRPr>
            </a:pPr>
            <a:r>
              <a:t>₹461.17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12848"/>
            <a:ext cx="30175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Average Cost for Two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432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6973"/>
                </a:solidFill>
              </a:defRPr>
            </a:pPr>
            <a:r>
              <a:t>SLICERS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54680"/>
            <a:ext cx="2331720" cy="777240"/>
          </a:xfrm>
          <a:prstGeom prst="round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3154680"/>
            <a:ext cx="2331720" cy="777240"/>
          </a:xfrm>
          <a:prstGeom prst="round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Cuisine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154680"/>
            <a:ext cx="2331720" cy="77724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Rating Category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3154680"/>
            <a:ext cx="2331720" cy="777240"/>
          </a:xfrm>
          <a:prstGeom prst="round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Price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2D37"/>
                </a:solidFill>
              </a:defRPr>
            </a:pPr>
            <a:r>
              <a:t>Slicers make the dashboard interactive by filtering the connected PivotTables and PivotCharts.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9.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</a:defRPr>
            </a:pPr>
            <a:r>
              <a:t>Main findings from the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82296" cy="132588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5331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TOTAL RESTAURANTS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3CAEA3"/>
                </a:solidFill>
              </a:defRPr>
            </a:pPr>
            <a:r>
              <a:t>2,999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301752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records analyzed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82296" cy="132588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35331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AVERAGE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700784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6C85F"/>
                </a:solidFill>
              </a:defRPr>
            </a:pPr>
            <a:r>
              <a:t>2.73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58568"/>
            <a:ext cx="301752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overall average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887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188720"/>
            <a:ext cx="82296" cy="1325880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35331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AVERAGE COST FOR 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00784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0639B"/>
                </a:solidFill>
              </a:defRPr>
            </a:pPr>
            <a:r>
              <a:t>₹461.17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58568"/>
            <a:ext cx="301752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overall average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97180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North Indian is the largest cuisine category in the Top 10 list.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Price Range 1 has the highest restaurant count: 1,481.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City analysis shows where restaurants are concentrated.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Rating-category analysis shows the distribution of restaurant ratings.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The dashboard allows quick filtering through slicers.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10. Skills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503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6973"/>
                </a:solidFill>
              </a:defRPr>
            </a:pPr>
            <a:r>
              <a:t>What I gained from this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82296" cy="1143000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39903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470915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PivotTables, PivotCharts and dashboard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23444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234440"/>
            <a:ext cx="82296" cy="114300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39903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POWER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304288"/>
            <a:ext cx="470915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Data cleaning and transformation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82296" cy="1143000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90779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13048"/>
            <a:ext cx="470915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Turning questions into measurable calculations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2743200"/>
            <a:ext cx="82296" cy="1143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290779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813048"/>
            <a:ext cx="470915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Choosing clear charts for the 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5196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251960"/>
            <a:ext cx="82296" cy="1143000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41655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INTERACTIVITY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321808"/>
            <a:ext cx="470915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Using slicers and Report Connections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25196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4251960"/>
            <a:ext cx="82296" cy="1143000"/>
          </a:xfrm>
          <a:prstGeom prst="rect">
            <a:avLst/>
          </a:prstGeom>
          <a:solidFill>
            <a:srgbClr val="3CA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4416552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6973"/>
                </a:solidFill>
              </a:defRPr>
            </a:pPr>
            <a:r>
              <a:t>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5321808"/>
            <a:ext cx="470915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</a:defRPr>
            </a:pPr>
            <a:r>
              <a:t>Explaining data in a simple business format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Raw restaurant data was cleaned and transformed using Power Query.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Eight questions were answered using PivotTables.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PivotCharts converted the analysis into clear visuals.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Slicers made the final dashboard interactive.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The final result is a single dashboard for quick restaurant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6973"/>
                </a:solidFill>
              </a:defRPr>
            </a:pPr>
            <a:r>
              <a:t>Zomato Restaurant Rating &amp; Cuisine Dashboard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E978-9A88-43ED-9F9C-2C8650F0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Flat Thank You Slide Template for PowerPoint">
            <a:extLst>
              <a:ext uri="{FF2B5EF4-FFF2-40B4-BE49-F238E27FC236}">
                <a16:creationId xmlns:a16="http://schemas.microsoft.com/office/drawing/2014/main" id="{2F54AB64-A87F-F556-237D-90677ED36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17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767</Words>
  <Application>Microsoft Office PowerPoint</Application>
  <PresentationFormat>Widescreen</PresentationFormat>
  <Paragraphs>206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ELCOT</dc:creator>
  <cp:keywords/>
  <dc:description>generated using python-pptx</dc:description>
  <cp:lastModifiedBy>M Monisha</cp:lastModifiedBy>
  <cp:revision>2</cp:revision>
  <dcterms:created xsi:type="dcterms:W3CDTF">2013-01-27T09:14:16Z</dcterms:created>
  <dcterms:modified xsi:type="dcterms:W3CDTF">2026-10-08T06:24:25Z</dcterms:modified>
  <cp:category/>
</cp:coreProperties>
</file>